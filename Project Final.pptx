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oppins" panose="020B0502040204020203" pitchFamily="2" charset="0"/>
      <p:regular r:id="rId11"/>
    </p:embeddedFont>
    <p:embeddedFont>
      <p:font typeface="Poppins Bold" panose="020B0604020202020204" charset="0"/>
      <p:regular r:id="rId12"/>
    </p:embeddedFont>
    <p:embeddedFont>
      <p:font typeface="Roboto Condensed" panose="020F0502020204030204" pitchFamily="2" charset="0"/>
      <p:regular r:id="rId13"/>
    </p:embeddedFont>
    <p:embeddedFont>
      <p:font typeface="Roboto Condensed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42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9.sv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3.svg"/><Relationship Id="rId7" Type="http://schemas.openxmlformats.org/officeDocument/2006/relationships/image" Target="../media/image2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34" r="-7159"/>
            </a:stretch>
          </a:blipFill>
        </p:spPr>
      </p:sp>
      <p:grpSp>
        <p:nvGrpSpPr>
          <p:cNvPr id="3" name="Group 3"/>
          <p:cNvGrpSpPr/>
          <p:nvPr/>
        </p:nvGrpSpPr>
        <p:grpSpPr>
          <a:xfrm rot="1060987">
            <a:off x="8634256" y="-2346487"/>
            <a:ext cx="12247371" cy="15299036"/>
            <a:chOff x="0" y="0"/>
            <a:chExt cx="3225645" cy="40293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5645" cy="4029376"/>
            </a:xfrm>
            <a:custGeom>
              <a:avLst/>
              <a:gdLst/>
              <a:ahLst/>
              <a:cxnLst/>
              <a:rect l="l" t="t" r="r" b="b"/>
              <a:pathLst>
                <a:path w="3225645" h="4029376">
                  <a:moveTo>
                    <a:pt x="0" y="0"/>
                  </a:moveTo>
                  <a:lnTo>
                    <a:pt x="3225645" y="0"/>
                  </a:lnTo>
                  <a:lnTo>
                    <a:pt x="3225645" y="4029376"/>
                  </a:lnTo>
                  <a:lnTo>
                    <a:pt x="0" y="4029376"/>
                  </a:lnTo>
                  <a:close/>
                </a:path>
              </a:pathLst>
            </a:custGeom>
            <a:solidFill>
              <a:srgbClr val="072227">
                <a:alpha val="8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225645" cy="4086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4385921">
            <a:off x="1811542" y="4050978"/>
            <a:ext cx="13559562" cy="542382"/>
          </a:xfrm>
          <a:custGeom>
            <a:avLst/>
            <a:gdLst/>
            <a:ahLst/>
            <a:cxnLst/>
            <a:rect l="l" t="t" r="r" b="b"/>
            <a:pathLst>
              <a:path w="13559562" h="542382">
                <a:moveTo>
                  <a:pt x="0" y="0"/>
                </a:moveTo>
                <a:lnTo>
                  <a:pt x="13559563" y="0"/>
                </a:lnTo>
                <a:lnTo>
                  <a:pt x="13559563" y="542382"/>
                </a:lnTo>
                <a:lnTo>
                  <a:pt x="0" y="542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1405364" y="-2599268"/>
            <a:ext cx="7561508" cy="5198537"/>
          </a:xfrm>
          <a:custGeom>
            <a:avLst/>
            <a:gdLst/>
            <a:ahLst/>
            <a:cxnLst/>
            <a:rect l="l" t="t" r="r" b="b"/>
            <a:pathLst>
              <a:path w="7561508" h="5198537">
                <a:moveTo>
                  <a:pt x="0" y="0"/>
                </a:moveTo>
                <a:lnTo>
                  <a:pt x="7561508" y="0"/>
                </a:lnTo>
                <a:lnTo>
                  <a:pt x="7561508" y="5198536"/>
                </a:lnTo>
                <a:lnTo>
                  <a:pt x="0" y="51985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3255762" y="9476736"/>
            <a:ext cx="5711110" cy="1620528"/>
          </a:xfrm>
          <a:custGeom>
            <a:avLst/>
            <a:gdLst/>
            <a:ahLst/>
            <a:cxnLst/>
            <a:rect l="l" t="t" r="r" b="b"/>
            <a:pathLst>
              <a:path w="5711110" h="1620528">
                <a:moveTo>
                  <a:pt x="0" y="0"/>
                </a:moveTo>
                <a:lnTo>
                  <a:pt x="5711110" y="0"/>
                </a:lnTo>
                <a:lnTo>
                  <a:pt x="5711110" y="1620528"/>
                </a:lnTo>
                <a:lnTo>
                  <a:pt x="0" y="162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43403" y="156555"/>
            <a:ext cx="8700597" cy="1082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7"/>
              </a:lnSpc>
            </a:pPr>
            <a:r>
              <a:rPr lang="en-US" sz="7211" b="1">
                <a:solidFill>
                  <a:srgbClr val="AEF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FINAL PROJECT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12921" y="1636312"/>
            <a:ext cx="8252407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CUSTOMER CHURN ANALYSIS IN TELECOMMUNICATIONS SECTOR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56703" y="4605887"/>
            <a:ext cx="10020534" cy="108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7"/>
              </a:lnSpc>
              <a:spcBef>
                <a:spcPct val="0"/>
              </a:spcBef>
            </a:pPr>
            <a:r>
              <a:rPr lang="en-US" sz="72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SHADY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56703" y="5700163"/>
            <a:ext cx="10020534" cy="108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7"/>
              </a:lnSpc>
              <a:spcBef>
                <a:spcPct val="0"/>
              </a:spcBef>
            </a:pPr>
            <a:r>
              <a:rPr lang="en-US" sz="72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YASSMINE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56703" y="6794439"/>
            <a:ext cx="10020534" cy="108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7"/>
              </a:lnSpc>
              <a:spcBef>
                <a:spcPct val="0"/>
              </a:spcBef>
            </a:pPr>
            <a:r>
              <a:rPr lang="en-US" sz="72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SAMAR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56703" y="7888716"/>
            <a:ext cx="10020534" cy="108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7"/>
              </a:lnSpc>
              <a:spcBef>
                <a:spcPct val="0"/>
              </a:spcBef>
            </a:pPr>
            <a:r>
              <a:rPr lang="en-US" sz="72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CHRSTINA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6230600" cy="8182927"/>
          </a:xfrm>
          <a:custGeom>
            <a:avLst/>
            <a:gdLst/>
            <a:ahLst/>
            <a:cxnLst/>
            <a:rect l="l" t="t" r="r" b="b"/>
            <a:pathLst>
              <a:path w="16230600" h="8182927">
                <a:moveTo>
                  <a:pt x="0" y="0"/>
                </a:moveTo>
                <a:lnTo>
                  <a:pt x="16230600" y="0"/>
                </a:lnTo>
                <a:lnTo>
                  <a:pt x="16230600" y="8182927"/>
                </a:lnTo>
                <a:lnTo>
                  <a:pt x="0" y="818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434209" y="2600578"/>
            <a:ext cx="3940583" cy="5246370"/>
            <a:chOff x="0" y="0"/>
            <a:chExt cx="3663950" cy="4878070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3600450" cy="4814570"/>
            </a:xfrm>
            <a:custGeom>
              <a:avLst/>
              <a:gdLst/>
              <a:ahLst/>
              <a:cxnLst/>
              <a:rect l="l" t="t" r="r" b="b"/>
              <a:pathLst>
                <a:path w="3600450" h="481457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4"/>
              <a:stretch>
                <a:fillRect l="-39147" r="-39147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663950" cy="4878070"/>
            </a:xfrm>
            <a:custGeom>
              <a:avLst/>
              <a:gdLst/>
              <a:ahLst/>
              <a:cxnLst/>
              <a:rect l="l" t="t" r="r" b="b"/>
              <a:pathLst>
                <a:path w="3663950" h="487807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B2DE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2434209" y="7500505"/>
            <a:ext cx="3940583" cy="346443"/>
          </a:xfrm>
          <a:custGeom>
            <a:avLst/>
            <a:gdLst/>
            <a:ahLst/>
            <a:cxnLst/>
            <a:rect l="l" t="t" r="r" b="b"/>
            <a:pathLst>
              <a:path w="3940583" h="346443">
                <a:moveTo>
                  <a:pt x="0" y="0"/>
                </a:moveTo>
                <a:lnTo>
                  <a:pt x="3940582" y="0"/>
                </a:lnTo>
                <a:lnTo>
                  <a:pt x="3940582" y="346443"/>
                </a:lnTo>
                <a:lnTo>
                  <a:pt x="0" y="346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20618" y="2348038"/>
            <a:ext cx="9072982" cy="264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Dataset Content:</a:t>
            </a:r>
          </a:p>
          <a:p>
            <a:pPr marL="647700" lvl="1" indent="-323850" algn="l">
              <a:lnSpc>
                <a:spcPts val="350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✅ 7,043 customer records</a:t>
            </a:r>
          </a:p>
          <a:p>
            <a:pPr marL="647700" lvl="1" indent="-323850" algn="l">
              <a:lnSpc>
                <a:spcPts val="350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✅ 31 analytical variables</a:t>
            </a:r>
          </a:p>
          <a:p>
            <a:pPr marL="647700" lvl="1" indent="-323850" algn="l">
              <a:lnSpc>
                <a:spcPts val="350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✅ Customers from 20+ Indian states</a:t>
            </a:r>
          </a:p>
          <a:p>
            <a:pPr marL="647700" lvl="1" indent="-323850" algn="l">
              <a:lnSpc>
                <a:spcPts val="3509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✅ Integrated financial and behavioral data</a:t>
            </a:r>
          </a:p>
          <a:p>
            <a:pPr algn="l">
              <a:lnSpc>
                <a:spcPts val="3509"/>
              </a:lnSpc>
            </a:pPr>
            <a:endParaRPr lang="en-US" sz="3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20618" y="1375790"/>
            <a:ext cx="7323382" cy="197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1"/>
              </a:lnSpc>
            </a:pPr>
            <a:r>
              <a:rPr lang="en-US" sz="6642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Overview</a:t>
            </a:r>
          </a:p>
          <a:p>
            <a:pPr algn="l">
              <a:lnSpc>
                <a:spcPts val="7771"/>
              </a:lnSpc>
            </a:pPr>
            <a:endParaRPr lang="en-US" sz="6642" b="1">
              <a:solidFill>
                <a:srgbClr val="3DEDE8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9" name="Freeform 9"/>
          <p:cNvSpPr/>
          <p:nvPr/>
        </p:nvSpPr>
        <p:spPr>
          <a:xfrm rot="-10800000">
            <a:off x="13614769" y="8389485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6887969" y="-868815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758541" y="-1897515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518563" y="7314112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1"/>
                </a:lnTo>
                <a:lnTo>
                  <a:pt x="0" y="3795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08636" y="4988368"/>
            <a:ext cx="9240560" cy="221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DEMOGRAPHIC DATA (AGE, GENDER, MARITAL STATUS)</a:t>
            </a:r>
          </a:p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SERVICE DETAILS AND SUBSCRIPTIONS</a:t>
            </a:r>
          </a:p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FINANCIAL AND PAYMENT DATA</a:t>
            </a:r>
          </a:p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CHURN HISTORY AND REASONS</a:t>
            </a:r>
          </a:p>
          <a:p>
            <a:pPr algn="ctr">
              <a:lnSpc>
                <a:spcPts val="3509"/>
              </a:lnSpc>
              <a:spcBef>
                <a:spcPct val="0"/>
              </a:spcBef>
            </a:pPr>
            <a:endParaRPr lang="en-US" sz="3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0610" y="461686"/>
            <a:ext cx="917473" cy="1029422"/>
          </a:xfrm>
          <a:custGeom>
            <a:avLst/>
            <a:gdLst/>
            <a:ahLst/>
            <a:cxnLst/>
            <a:rect l="l" t="t" r="r" b="b"/>
            <a:pathLst>
              <a:path w="917473" h="1029422">
                <a:moveTo>
                  <a:pt x="0" y="0"/>
                </a:moveTo>
                <a:lnTo>
                  <a:pt x="917472" y="0"/>
                </a:lnTo>
                <a:lnTo>
                  <a:pt x="917472" y="1029423"/>
                </a:lnTo>
                <a:lnTo>
                  <a:pt x="0" y="1029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69547" y="3632258"/>
            <a:ext cx="917473" cy="884214"/>
          </a:xfrm>
          <a:custGeom>
            <a:avLst/>
            <a:gdLst/>
            <a:ahLst/>
            <a:cxnLst/>
            <a:rect l="l" t="t" r="r" b="b"/>
            <a:pathLst>
              <a:path w="917473" h="884214">
                <a:moveTo>
                  <a:pt x="0" y="0"/>
                </a:moveTo>
                <a:lnTo>
                  <a:pt x="917473" y="0"/>
                </a:lnTo>
                <a:lnTo>
                  <a:pt x="917473" y="884215"/>
                </a:lnTo>
                <a:lnTo>
                  <a:pt x="0" y="884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7919" y="8054478"/>
            <a:ext cx="917473" cy="960704"/>
          </a:xfrm>
          <a:custGeom>
            <a:avLst/>
            <a:gdLst/>
            <a:ahLst/>
            <a:cxnLst/>
            <a:rect l="l" t="t" r="r" b="b"/>
            <a:pathLst>
              <a:path w="917473" h="960704">
                <a:moveTo>
                  <a:pt x="0" y="0"/>
                </a:moveTo>
                <a:lnTo>
                  <a:pt x="917473" y="0"/>
                </a:lnTo>
                <a:lnTo>
                  <a:pt x="917473" y="960704"/>
                </a:lnTo>
                <a:lnTo>
                  <a:pt x="0" y="960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639378" y="-1396380"/>
            <a:ext cx="5789772" cy="13620139"/>
            <a:chOff x="0" y="0"/>
            <a:chExt cx="1524878" cy="35871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878" cy="3587197"/>
            </a:xfrm>
            <a:custGeom>
              <a:avLst/>
              <a:gdLst/>
              <a:ahLst/>
              <a:cxnLst/>
              <a:rect l="l" t="t" r="r" b="b"/>
              <a:pathLst>
                <a:path w="1524878" h="3587197">
                  <a:moveTo>
                    <a:pt x="0" y="0"/>
                  </a:moveTo>
                  <a:lnTo>
                    <a:pt x="1524878" y="0"/>
                  </a:lnTo>
                  <a:lnTo>
                    <a:pt x="1524878" y="3587197"/>
                  </a:lnTo>
                  <a:lnTo>
                    <a:pt x="0" y="3587197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524878" cy="3644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12416591" y="5013876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094048" y="3132734"/>
            <a:ext cx="8691562" cy="264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CUSTOMER STATUS:</a:t>
            </a:r>
          </a:p>
          <a:p>
            <a:pPr algn="ctr">
              <a:lnSpc>
                <a:spcPts val="3509"/>
              </a:lnSpc>
            </a:pPr>
            <a:endParaRPr lang="en-US" sz="3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647700" lvl="1" indent="-323850" algn="l">
              <a:lnSpc>
                <a:spcPts val="3509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Active Customers (Stayed)</a:t>
            </a:r>
          </a:p>
          <a:p>
            <a:pPr marL="647700" lvl="1" indent="-323850" algn="l">
              <a:lnSpc>
                <a:spcPts val="3509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Churned Customers</a:t>
            </a:r>
          </a:p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Percentage ratios and distribution ANALYSIS</a:t>
            </a:r>
          </a:p>
          <a:p>
            <a:pPr algn="l">
              <a:lnSpc>
                <a:spcPts val="3509"/>
              </a:lnSpc>
              <a:spcBef>
                <a:spcPct val="0"/>
              </a:spcBef>
            </a:pPr>
            <a:endParaRPr lang="en-US" sz="3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599568" y="7424215"/>
            <a:ext cx="8108514" cy="221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GEOGRAPHICAL DISTRIBUTION:</a:t>
            </a:r>
          </a:p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MAHARASHTRA, TAMIL NADU, UTTAR PRADESH</a:t>
            </a:r>
          </a:p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KARNATAKA, GUJARAT, PUNJAB</a:t>
            </a:r>
          </a:p>
          <a:p>
            <a:pPr marL="647700" lvl="1" indent="-323850" algn="l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AND OTHER STATES</a:t>
            </a:r>
          </a:p>
          <a:p>
            <a:pPr algn="l">
              <a:lnSpc>
                <a:spcPts val="3509"/>
              </a:lnSpc>
              <a:spcBef>
                <a:spcPct val="0"/>
              </a:spcBef>
            </a:pPr>
            <a:endParaRPr lang="en-US" sz="3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300595" y="231977"/>
            <a:ext cx="11091204" cy="21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437"/>
              </a:lnSpc>
              <a:spcBef>
                <a:spcPct val="0"/>
              </a:spcBef>
            </a:pPr>
            <a:r>
              <a:rPr lang="en-US" sz="72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CUSTOMER DISTRIBUTION</a:t>
            </a:r>
          </a:p>
          <a:p>
            <a:pPr algn="ctr" rtl="1">
              <a:lnSpc>
                <a:spcPts val="8437"/>
              </a:lnSpc>
              <a:spcBef>
                <a:spcPct val="0"/>
              </a:spcBef>
            </a:pPr>
            <a:endParaRPr lang="en-US" sz="7211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753649" y="-1250900"/>
            <a:ext cx="21364659" cy="12496550"/>
            <a:chOff x="0" y="0"/>
            <a:chExt cx="5626906" cy="3291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26906" cy="3291272"/>
            </a:xfrm>
            <a:custGeom>
              <a:avLst/>
              <a:gdLst/>
              <a:ahLst/>
              <a:cxnLst/>
              <a:rect l="l" t="t" r="r" b="b"/>
              <a:pathLst>
                <a:path w="5626906" h="3291272">
                  <a:moveTo>
                    <a:pt x="0" y="0"/>
                  </a:moveTo>
                  <a:lnTo>
                    <a:pt x="5626906" y="0"/>
                  </a:lnTo>
                  <a:lnTo>
                    <a:pt x="5626906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626906" cy="334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72016" y="-1250900"/>
            <a:ext cx="1876559" cy="12496550"/>
            <a:chOff x="0" y="0"/>
            <a:chExt cx="494238" cy="32912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4238" cy="3291272"/>
            </a:xfrm>
            <a:custGeom>
              <a:avLst/>
              <a:gdLst/>
              <a:ahLst/>
              <a:cxnLst/>
              <a:rect l="l" t="t" r="r" b="b"/>
              <a:pathLst>
                <a:path w="494238" h="3291272">
                  <a:moveTo>
                    <a:pt x="0" y="0"/>
                  </a:moveTo>
                  <a:lnTo>
                    <a:pt x="494238" y="0"/>
                  </a:lnTo>
                  <a:lnTo>
                    <a:pt x="494238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94238" cy="334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11428273" y="5075217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 flipH="1">
            <a:off x="-3611139" y="4964446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10445574" y="0"/>
                </a:moveTo>
                <a:lnTo>
                  <a:pt x="0" y="0"/>
                </a:lnTo>
                <a:lnTo>
                  <a:pt x="0" y="417823"/>
                </a:lnTo>
                <a:lnTo>
                  <a:pt x="10445574" y="417823"/>
                </a:lnTo>
                <a:lnTo>
                  <a:pt x="10445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-2534274" y="-2473276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5" y="0"/>
                </a:lnTo>
                <a:lnTo>
                  <a:pt x="5520045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15527978" y="-1492414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400000">
            <a:off x="-2353332" y="9171525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15788553" y="8498629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1"/>
                </a:lnTo>
                <a:lnTo>
                  <a:pt x="0" y="3795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496959" y="70866"/>
            <a:ext cx="11498656" cy="957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sz="6399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Churn Rate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7055" y="405101"/>
            <a:ext cx="12924356" cy="988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0"/>
              </a:lnSpc>
            </a:pPr>
            <a:endParaRPr/>
          </a:p>
          <a:p>
            <a:pPr algn="l">
              <a:lnSpc>
                <a:spcPts val="5260"/>
              </a:lnSpc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Main Reasons for Chrn:</a:t>
            </a:r>
          </a:p>
          <a:p>
            <a:pPr marL="970731" lvl="1" indent="-485365" algn="l">
              <a:lnSpc>
                <a:spcPts val="5260"/>
              </a:lnSpc>
              <a:buAutoNum type="arabicPeriod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Competition (47%)</a:t>
            </a:r>
          </a:p>
          <a:p>
            <a:pPr marL="1941461" lvl="2" indent="-647154" algn="l">
              <a:lnSpc>
                <a:spcPts val="5260"/>
              </a:lnSpc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Better competitor offers</a:t>
            </a:r>
          </a:p>
          <a:p>
            <a:pPr marL="1941461" lvl="2" indent="-647154" algn="l">
              <a:lnSpc>
                <a:spcPts val="5260"/>
              </a:lnSpc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Better devices</a:t>
            </a:r>
          </a:p>
          <a:p>
            <a:pPr marL="1941461" lvl="2" indent="-647154" algn="l">
              <a:lnSpc>
                <a:spcPts val="5260"/>
              </a:lnSpc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Higher download speeds</a:t>
            </a:r>
          </a:p>
          <a:p>
            <a:pPr marL="970731" lvl="1" indent="-485365" algn="l">
              <a:lnSpc>
                <a:spcPts val="5260"/>
              </a:lnSpc>
              <a:buAutoNum type="arabicPeriod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Service Dissatisfaction (28%)</a:t>
            </a:r>
          </a:p>
          <a:p>
            <a:pPr marL="1941461" lvl="2" indent="-647154" algn="l">
              <a:lnSpc>
                <a:spcPts val="5260"/>
              </a:lnSpc>
              <a:spcBef>
                <a:spcPct val="0"/>
              </a:spcBef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Network ISSUES</a:t>
            </a:r>
          </a:p>
          <a:p>
            <a:pPr marL="1941461" lvl="2" indent="-647154" algn="l">
              <a:lnSpc>
                <a:spcPts val="5260"/>
              </a:lnSpc>
              <a:spcBef>
                <a:spcPct val="0"/>
              </a:spcBef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TECHNICAL SUPPORT QUALITY</a:t>
            </a:r>
          </a:p>
          <a:p>
            <a:pPr marL="1941461" lvl="2" indent="-647154" algn="l">
              <a:lnSpc>
                <a:spcPts val="5260"/>
              </a:lnSpc>
              <a:spcBef>
                <a:spcPct val="0"/>
              </a:spcBef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LIMITED SERVICE RANGE</a:t>
            </a:r>
          </a:p>
          <a:p>
            <a:pPr marL="970731" lvl="1" indent="-485365" algn="l">
              <a:lnSpc>
                <a:spcPts val="5260"/>
              </a:lnSpc>
              <a:spcBef>
                <a:spcPct val="0"/>
              </a:spcBef>
              <a:buAutoNum type="arabicPeriod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PRICE (15%)</a:t>
            </a:r>
          </a:p>
          <a:p>
            <a:pPr marL="1941461" lvl="2" indent="-647154" algn="l">
              <a:lnSpc>
                <a:spcPts val="5260"/>
              </a:lnSpc>
              <a:spcBef>
                <a:spcPct val="0"/>
              </a:spcBef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 PRICES</a:t>
            </a:r>
          </a:p>
          <a:p>
            <a:pPr marL="1941461" lvl="2" indent="-647154" algn="l">
              <a:lnSpc>
                <a:spcPts val="5260"/>
              </a:lnSpc>
              <a:spcBef>
                <a:spcPct val="0"/>
              </a:spcBef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EXTRA DATA CHARGES</a:t>
            </a:r>
          </a:p>
          <a:p>
            <a:pPr marL="1941461" lvl="2" indent="-647154" algn="l">
              <a:lnSpc>
                <a:spcPts val="5260"/>
              </a:lnSpc>
              <a:spcBef>
                <a:spcPct val="0"/>
              </a:spcBef>
              <a:buFont typeface="Arial"/>
              <a:buChar char="⚬"/>
            </a:pPr>
            <a:r>
              <a:rPr lang="en-US" sz="4496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LONG-DISTANCE CHARGES</a:t>
            </a:r>
          </a:p>
          <a:p>
            <a:pPr algn="l">
              <a:lnSpc>
                <a:spcPts val="5260"/>
              </a:lnSpc>
              <a:spcBef>
                <a:spcPct val="0"/>
              </a:spcBef>
            </a:pPr>
            <a:endParaRPr lang="en-US" sz="4496" b="1">
              <a:solidFill>
                <a:srgbClr val="3DEDE8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21075" y="-1517419"/>
            <a:ext cx="27488974" cy="2809875"/>
            <a:chOff x="0" y="0"/>
            <a:chExt cx="7239895" cy="740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39895" cy="740049"/>
            </a:xfrm>
            <a:custGeom>
              <a:avLst/>
              <a:gdLst/>
              <a:ahLst/>
              <a:cxnLst/>
              <a:rect l="l" t="t" r="r" b="b"/>
              <a:pathLst>
                <a:path w="7239895" h="740049">
                  <a:moveTo>
                    <a:pt x="0" y="0"/>
                  </a:moveTo>
                  <a:lnTo>
                    <a:pt x="7239895" y="0"/>
                  </a:lnTo>
                  <a:lnTo>
                    <a:pt x="7239895" y="740049"/>
                  </a:lnTo>
                  <a:lnTo>
                    <a:pt x="0" y="740049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239895" cy="797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0" y="1292456"/>
            <a:ext cx="18476613" cy="739065"/>
          </a:xfrm>
          <a:custGeom>
            <a:avLst/>
            <a:gdLst/>
            <a:ahLst/>
            <a:cxnLst/>
            <a:rect l="l" t="t" r="r" b="b"/>
            <a:pathLst>
              <a:path w="18476613" h="739065">
                <a:moveTo>
                  <a:pt x="0" y="0"/>
                </a:moveTo>
                <a:lnTo>
                  <a:pt x="18476613" y="0"/>
                </a:lnTo>
                <a:lnTo>
                  <a:pt x="18476613" y="739064"/>
                </a:lnTo>
                <a:lnTo>
                  <a:pt x="0" y="73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272730" y="-1635800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1"/>
                </a:lnTo>
                <a:lnTo>
                  <a:pt x="0" y="3795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5043953" y="-1635800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5" y="0"/>
                </a:lnTo>
                <a:lnTo>
                  <a:pt x="5520045" y="3795031"/>
                </a:lnTo>
                <a:lnTo>
                  <a:pt x="0" y="3795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-1515846" y="3507257"/>
            <a:ext cx="8551737" cy="5751043"/>
          </a:xfrm>
          <a:custGeom>
            <a:avLst/>
            <a:gdLst/>
            <a:ahLst/>
            <a:cxnLst/>
            <a:rect l="l" t="t" r="r" b="b"/>
            <a:pathLst>
              <a:path w="8551737" h="5751043">
                <a:moveTo>
                  <a:pt x="0" y="0"/>
                </a:moveTo>
                <a:lnTo>
                  <a:pt x="8551737" y="0"/>
                </a:lnTo>
                <a:lnTo>
                  <a:pt x="8551737" y="5751043"/>
                </a:lnTo>
                <a:lnTo>
                  <a:pt x="0" y="5751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17432" y="5102767"/>
            <a:ext cx="5809169" cy="3595951"/>
            <a:chOff x="0" y="0"/>
            <a:chExt cx="6973570" cy="43167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73570" cy="4316730"/>
            </a:xfrm>
            <a:custGeom>
              <a:avLst/>
              <a:gdLst/>
              <a:ahLst/>
              <a:cxnLst/>
              <a:rect l="l" t="t" r="r" b="b"/>
              <a:pathLst>
                <a:path w="6973570" h="4316730">
                  <a:moveTo>
                    <a:pt x="6228080" y="0"/>
                  </a:moveTo>
                  <a:lnTo>
                    <a:pt x="0" y="0"/>
                  </a:lnTo>
                  <a:lnTo>
                    <a:pt x="0" y="4316730"/>
                  </a:lnTo>
                  <a:lnTo>
                    <a:pt x="6973570" y="4316730"/>
                  </a:lnTo>
                  <a:lnTo>
                    <a:pt x="6973570" y="745490"/>
                  </a:lnTo>
                  <a:close/>
                </a:path>
              </a:pathLst>
            </a:custGeom>
            <a:blipFill>
              <a:blip r:embed="rId8"/>
              <a:stretch>
                <a:fillRect t="-3815" b="-3815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6228080" y="0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90" h="745490">
                  <a:moveTo>
                    <a:pt x="0" y="0"/>
                  </a:moveTo>
                  <a:lnTo>
                    <a:pt x="0" y="745490"/>
                  </a:lnTo>
                  <a:lnTo>
                    <a:pt x="745490" y="745490"/>
                  </a:lnTo>
                  <a:close/>
                </a:path>
              </a:pathLst>
            </a:custGeom>
            <a:solidFill>
              <a:srgbClr val="35858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5710078" y="271240"/>
            <a:ext cx="7056457" cy="957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sz="63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Concepts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2722" y="3244326"/>
            <a:ext cx="8565462" cy="5736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Positive Retention Factors: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Long-term contracts (1/2 years)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Integrated service packages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Fiber optic services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Multiple payment options</a:t>
            </a:r>
          </a:p>
          <a:p>
            <a:pPr algn="l">
              <a:lnSpc>
                <a:spcPts val="4174"/>
              </a:lnSpc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Risk Factors: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Monthly contracts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DSL services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Lack of additional services</a:t>
            </a:r>
          </a:p>
          <a:p>
            <a:pPr marL="770383" lvl="1" indent="-385191" algn="l">
              <a:lnSpc>
                <a:spcPts val="4174"/>
              </a:lnSpc>
              <a:buFont typeface="Arial"/>
              <a:buChar char="•"/>
            </a:pPr>
            <a:r>
              <a:rPr lang="en-US" sz="356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Paper billing</a:t>
            </a:r>
          </a:p>
          <a:p>
            <a:pPr algn="l">
              <a:lnSpc>
                <a:spcPts val="4174"/>
              </a:lnSpc>
            </a:pPr>
            <a:endParaRPr lang="en-US" sz="3568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22016" y="2328863"/>
            <a:ext cx="9830194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999" spc="199">
                <a:solidFill>
                  <a:srgbClr val="AEFE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Factors Affecting Customer Retention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25003" y="43506"/>
            <a:ext cx="10775712" cy="3623333"/>
          </a:xfrm>
          <a:custGeom>
            <a:avLst/>
            <a:gdLst/>
            <a:ahLst/>
            <a:cxnLst/>
            <a:rect l="l" t="t" r="r" b="b"/>
            <a:pathLst>
              <a:path w="10775712" h="3623333">
                <a:moveTo>
                  <a:pt x="0" y="0"/>
                </a:moveTo>
                <a:lnTo>
                  <a:pt x="10775712" y="0"/>
                </a:lnTo>
                <a:lnTo>
                  <a:pt x="10775712" y="3623333"/>
                </a:lnTo>
                <a:lnTo>
                  <a:pt x="0" y="3623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5993" y="3734925"/>
            <a:ext cx="4992607" cy="1678764"/>
          </a:xfrm>
          <a:custGeom>
            <a:avLst/>
            <a:gdLst/>
            <a:ahLst/>
            <a:cxnLst/>
            <a:rect l="l" t="t" r="r" b="b"/>
            <a:pathLst>
              <a:path w="4992607" h="1678764">
                <a:moveTo>
                  <a:pt x="0" y="0"/>
                </a:moveTo>
                <a:lnTo>
                  <a:pt x="4992606" y="0"/>
                </a:lnTo>
                <a:lnTo>
                  <a:pt x="4992606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5996010"/>
            <a:ext cx="4992607" cy="1678764"/>
          </a:xfrm>
          <a:custGeom>
            <a:avLst/>
            <a:gdLst/>
            <a:ahLst/>
            <a:cxnLst/>
            <a:rect l="l" t="t" r="r" b="b"/>
            <a:pathLst>
              <a:path w="4992607" h="1678764">
                <a:moveTo>
                  <a:pt x="0" y="0"/>
                </a:moveTo>
                <a:lnTo>
                  <a:pt x="4992607" y="0"/>
                </a:lnTo>
                <a:lnTo>
                  <a:pt x="4992607" y="1678763"/>
                </a:lnTo>
                <a:lnTo>
                  <a:pt x="0" y="167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255798"/>
            <a:ext cx="4992607" cy="1678764"/>
          </a:xfrm>
          <a:custGeom>
            <a:avLst/>
            <a:gdLst/>
            <a:ahLst/>
            <a:cxnLst/>
            <a:rect l="l" t="t" r="r" b="b"/>
            <a:pathLst>
              <a:path w="4992607" h="1678764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29210" y="1355682"/>
            <a:ext cx="1116182" cy="998983"/>
          </a:xfrm>
          <a:custGeom>
            <a:avLst/>
            <a:gdLst/>
            <a:ahLst/>
            <a:cxnLst/>
            <a:rect l="l" t="t" r="r" b="b"/>
            <a:pathLst>
              <a:path w="1116182" h="998983">
                <a:moveTo>
                  <a:pt x="0" y="0"/>
                </a:moveTo>
                <a:lnTo>
                  <a:pt x="1116182" y="0"/>
                </a:lnTo>
                <a:lnTo>
                  <a:pt x="1116182" y="998982"/>
                </a:lnTo>
                <a:lnTo>
                  <a:pt x="0" y="998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799837" y="-1396380"/>
            <a:ext cx="6629312" cy="13620139"/>
            <a:chOff x="0" y="0"/>
            <a:chExt cx="1745992" cy="35871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45992" cy="3587197"/>
            </a:xfrm>
            <a:custGeom>
              <a:avLst/>
              <a:gdLst/>
              <a:ahLst/>
              <a:cxnLst/>
              <a:rect l="l" t="t" r="r" b="b"/>
              <a:pathLst>
                <a:path w="1745992" h="3587197">
                  <a:moveTo>
                    <a:pt x="0" y="0"/>
                  </a:moveTo>
                  <a:lnTo>
                    <a:pt x="1745992" y="0"/>
                  </a:lnTo>
                  <a:lnTo>
                    <a:pt x="1745992" y="3587197"/>
                  </a:lnTo>
                  <a:lnTo>
                    <a:pt x="0" y="3587197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745992" cy="3644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5768599" y="4607644"/>
            <a:ext cx="1179099" cy="0"/>
          </a:xfrm>
          <a:prstGeom prst="line">
            <a:avLst/>
          </a:prstGeom>
          <a:ln w="66675" cap="flat">
            <a:solidFill>
              <a:srgbClr val="AEFEFF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1" name="AutoShape 11"/>
          <p:cNvSpPr/>
          <p:nvPr/>
        </p:nvSpPr>
        <p:spPr>
          <a:xfrm>
            <a:off x="6021307" y="6930412"/>
            <a:ext cx="1179099" cy="0"/>
          </a:xfrm>
          <a:prstGeom prst="line">
            <a:avLst/>
          </a:prstGeom>
          <a:ln w="66675" cap="flat">
            <a:solidFill>
              <a:srgbClr val="AEFEFF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AutoShape 12"/>
          <p:cNvSpPr/>
          <p:nvPr/>
        </p:nvSpPr>
        <p:spPr>
          <a:xfrm>
            <a:off x="6021307" y="9061843"/>
            <a:ext cx="1179099" cy="0"/>
          </a:xfrm>
          <a:prstGeom prst="line">
            <a:avLst/>
          </a:prstGeom>
          <a:ln w="66675" cap="flat">
            <a:solidFill>
              <a:srgbClr val="AEFEFF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Freeform 13"/>
          <p:cNvSpPr/>
          <p:nvPr/>
        </p:nvSpPr>
        <p:spPr>
          <a:xfrm rot="-5400000">
            <a:off x="11577050" y="5204777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0" y="0"/>
                </a:moveTo>
                <a:lnTo>
                  <a:pt x="10445574" y="0"/>
                </a:lnTo>
                <a:lnTo>
                  <a:pt x="10445574" y="417823"/>
                </a:lnTo>
                <a:lnTo>
                  <a:pt x="0" y="4178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6341767"/>
            <a:ext cx="4452818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9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Enhance Service Quality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25003" y="1212807"/>
            <a:ext cx="11571090" cy="1734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776"/>
              </a:lnSpc>
              <a:spcBef>
                <a:spcPct val="0"/>
              </a:spcBef>
            </a:pPr>
            <a:r>
              <a:rPr lang="en-US" sz="48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Strategic Recommendations</a:t>
            </a:r>
          </a:p>
          <a:p>
            <a:pPr algn="ctr" rtl="1">
              <a:lnSpc>
                <a:spcPts val="6776"/>
              </a:lnSpc>
              <a:spcBef>
                <a:spcPct val="0"/>
              </a:spcBef>
            </a:pPr>
            <a:endParaRPr lang="en-US" sz="484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38022" y="3649200"/>
            <a:ext cx="7631073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3" lvl="2" indent="-431801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 competitive data packages</a:t>
            </a:r>
          </a:p>
          <a:p>
            <a:pPr marL="1295403" lvl="2" indent="-431801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Device upgrades</a:t>
            </a:r>
          </a:p>
          <a:p>
            <a:pPr marL="1295403" lvl="2" indent="-431801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Internet speed improvements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58805" y="3985662"/>
            <a:ext cx="4992607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79"/>
              </a:lnSpc>
              <a:spcBef>
                <a:spcPct val="0"/>
              </a:spcBef>
            </a:pPr>
            <a:r>
              <a:rPr lang="en-US" sz="3999" b="1" u="none" strike="noStrik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Improve Competitive Offers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84008" y="5910285"/>
            <a:ext cx="8612085" cy="2087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0" lvl="2" indent="-431800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Network infrastructure development</a:t>
            </a:r>
          </a:p>
          <a:p>
            <a:pPr marL="1295400" lvl="2" indent="-431800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support team training</a:t>
            </a:r>
          </a:p>
          <a:p>
            <a:pPr marL="1295400" lvl="2" indent="-431800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 range expansion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29210" y="8598698"/>
            <a:ext cx="4052307" cy="1192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79"/>
              </a:lnSpc>
              <a:spcBef>
                <a:spcPct val="0"/>
              </a:spcBef>
            </a:pPr>
            <a:r>
              <a:rPr lang="en-US" sz="3999" b="1" u="none" strike="noStrik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Pricing Strategy Review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7699" y="8170073"/>
            <a:ext cx="6467643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Flexible pricing packages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Fee transparency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Upgrade offers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753649" y="-1250900"/>
            <a:ext cx="21364659" cy="12496550"/>
            <a:chOff x="0" y="0"/>
            <a:chExt cx="5626906" cy="3291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26906" cy="3291272"/>
            </a:xfrm>
            <a:custGeom>
              <a:avLst/>
              <a:gdLst/>
              <a:ahLst/>
              <a:cxnLst/>
              <a:rect l="l" t="t" r="r" b="b"/>
              <a:pathLst>
                <a:path w="5626906" h="3291272">
                  <a:moveTo>
                    <a:pt x="0" y="0"/>
                  </a:moveTo>
                  <a:lnTo>
                    <a:pt x="5626906" y="0"/>
                  </a:lnTo>
                  <a:lnTo>
                    <a:pt x="5626906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626906" cy="334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72016" y="-1250900"/>
            <a:ext cx="1876559" cy="12496550"/>
            <a:chOff x="0" y="0"/>
            <a:chExt cx="494238" cy="32912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4238" cy="3291272"/>
            </a:xfrm>
            <a:custGeom>
              <a:avLst/>
              <a:gdLst/>
              <a:ahLst/>
              <a:cxnLst/>
              <a:rect l="l" t="t" r="r" b="b"/>
              <a:pathLst>
                <a:path w="494238" h="3291272">
                  <a:moveTo>
                    <a:pt x="0" y="0"/>
                  </a:moveTo>
                  <a:lnTo>
                    <a:pt x="494238" y="0"/>
                  </a:lnTo>
                  <a:lnTo>
                    <a:pt x="494238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94238" cy="334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11428273" y="5075217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 flipH="1">
            <a:off x="-3611139" y="4964446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10445574" y="0"/>
                </a:moveTo>
                <a:lnTo>
                  <a:pt x="0" y="0"/>
                </a:lnTo>
                <a:lnTo>
                  <a:pt x="0" y="417823"/>
                </a:lnTo>
                <a:lnTo>
                  <a:pt x="10445574" y="417823"/>
                </a:lnTo>
                <a:lnTo>
                  <a:pt x="10445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-2534274" y="-2473276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5" y="0"/>
                </a:lnTo>
                <a:lnTo>
                  <a:pt x="5520045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15527978" y="-1492414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400000">
            <a:off x="-2353332" y="9171525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15788553" y="8498629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1"/>
                </a:lnTo>
                <a:lnTo>
                  <a:pt x="0" y="3795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963244" y="319376"/>
            <a:ext cx="658726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 b="1">
                <a:solidFill>
                  <a:srgbClr val="3DEDE8"/>
                </a:solidFill>
                <a:latin typeface="Poppins Bold"/>
                <a:ea typeface="Poppins Bold"/>
                <a:cs typeface="Poppins Bold"/>
                <a:sym typeface="Poppins Bold"/>
                <a:rtl/>
              </a:rPr>
              <a:t> </a:t>
            </a:r>
            <a:r>
              <a:rPr lang="en-US" sz="3000" b="1">
                <a:solidFill>
                  <a:srgbClr val="3DEDE8"/>
                </a:solidFill>
                <a:latin typeface="Poppins Bold"/>
                <a:ea typeface="Poppins Bold"/>
                <a:cs typeface="Poppins Bold"/>
                <a:sym typeface="Poppins Bold"/>
              </a:rPr>
              <a:t>Key Performance Metrics</a:t>
            </a: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3DEDE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442209" y="1309976"/>
            <a:ext cx="7042071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DEDE8"/>
                </a:solidFill>
                <a:latin typeface="Poppins Bold"/>
                <a:ea typeface="Poppins Bold"/>
                <a:cs typeface="Poppins Bold"/>
                <a:sym typeface="Poppins Bold"/>
              </a:rPr>
              <a:t>Key Performance Indicators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Monthly churn rate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Average Revenue Per User (ARPU)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Customer tenure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Customer Acquisition Cost (CAC)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DED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42209" y="4434176"/>
            <a:ext cx="7042071" cy="374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DEDE8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Improvement Targets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Reduce churn rate by 15%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Increase average tenure by 6 months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Improve customer satisfaction by 20%</a:t>
            </a: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DED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753649" y="-1250900"/>
            <a:ext cx="22666850" cy="12496550"/>
            <a:chOff x="0" y="0"/>
            <a:chExt cx="5969870" cy="3291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870" cy="3291272"/>
            </a:xfrm>
            <a:custGeom>
              <a:avLst/>
              <a:gdLst/>
              <a:ahLst/>
              <a:cxnLst/>
              <a:rect l="l" t="t" r="r" b="b"/>
              <a:pathLst>
                <a:path w="5969870" h="3291272">
                  <a:moveTo>
                    <a:pt x="0" y="0"/>
                  </a:moveTo>
                  <a:lnTo>
                    <a:pt x="5969870" y="0"/>
                  </a:lnTo>
                  <a:lnTo>
                    <a:pt x="5969870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969870" cy="334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79375" y="-1250900"/>
            <a:ext cx="2969200" cy="12496550"/>
            <a:chOff x="0" y="0"/>
            <a:chExt cx="782012" cy="32912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2012" cy="3291272"/>
            </a:xfrm>
            <a:custGeom>
              <a:avLst/>
              <a:gdLst/>
              <a:ahLst/>
              <a:cxnLst/>
              <a:rect l="l" t="t" r="r" b="b"/>
              <a:pathLst>
                <a:path w="782012" h="3291272">
                  <a:moveTo>
                    <a:pt x="0" y="0"/>
                  </a:moveTo>
                  <a:lnTo>
                    <a:pt x="782012" y="0"/>
                  </a:lnTo>
                  <a:lnTo>
                    <a:pt x="782012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82012" cy="334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10356588" y="5013876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 flipH="1">
            <a:off x="-2309587" y="5013876"/>
            <a:ext cx="10445574" cy="417823"/>
          </a:xfrm>
          <a:custGeom>
            <a:avLst/>
            <a:gdLst/>
            <a:ahLst/>
            <a:cxnLst/>
            <a:rect l="l" t="t" r="r" b="b"/>
            <a:pathLst>
              <a:path w="10445574" h="417823">
                <a:moveTo>
                  <a:pt x="10445574" y="0"/>
                </a:moveTo>
                <a:lnTo>
                  <a:pt x="0" y="0"/>
                </a:lnTo>
                <a:lnTo>
                  <a:pt x="0" y="417822"/>
                </a:lnTo>
                <a:lnTo>
                  <a:pt x="10445574" y="417822"/>
                </a:lnTo>
                <a:lnTo>
                  <a:pt x="10445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-1731322" y="813078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14716868" y="813078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400000">
            <a:off x="-1731322" y="6707407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14716868" y="6707407"/>
            <a:ext cx="5520044" cy="3795030"/>
          </a:xfrm>
          <a:custGeom>
            <a:avLst/>
            <a:gdLst/>
            <a:ahLst/>
            <a:cxnLst/>
            <a:rect l="l" t="t" r="r" b="b"/>
            <a:pathLst>
              <a:path w="5520044" h="3795030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591823" y="1038225"/>
            <a:ext cx="11301505" cy="3721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9"/>
              </a:lnSpc>
            </a:pPr>
            <a:r>
              <a:rPr lang="en-US" sz="6290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 and Next Steps</a:t>
            </a:r>
          </a:p>
          <a:p>
            <a:pPr algn="ctr">
              <a:lnSpc>
                <a:spcPts val="7359"/>
              </a:lnSpc>
            </a:pPr>
            <a:r>
              <a:rPr lang="en-US" sz="6290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Key Findings</a:t>
            </a:r>
          </a:p>
          <a:p>
            <a:pPr algn="ctr">
              <a:lnSpc>
                <a:spcPts val="7359"/>
              </a:lnSpc>
            </a:pPr>
            <a:endParaRPr lang="en-US" sz="6290" b="1">
              <a:solidFill>
                <a:srgbClr val="3DEDE8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ctr">
              <a:lnSpc>
                <a:spcPts val="7359"/>
              </a:lnSpc>
            </a:pPr>
            <a:endParaRPr lang="en-US" sz="6290" b="1">
              <a:solidFill>
                <a:srgbClr val="3DEDE8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104145" y="3079662"/>
            <a:ext cx="8521789" cy="3204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Competition is the main churn driver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Long-term contracts improve customer retention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Service quality is crucial for customer loyalty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3DED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122112" y="4683050"/>
            <a:ext cx="19820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Next Steps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06303" y="5759175"/>
            <a:ext cx="7695486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In-depth segment analysis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Predictive churn model development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3DEDE8"/>
                </a:solidFill>
                <a:latin typeface="Poppins"/>
                <a:ea typeface="Poppins"/>
                <a:cs typeface="Poppins"/>
                <a:sym typeface="Poppins"/>
              </a:rPr>
              <a:t>Targeted retention campaign design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3DED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81969"/>
            <a:ext cx="5680045" cy="3905031"/>
          </a:xfrm>
          <a:custGeom>
            <a:avLst/>
            <a:gdLst/>
            <a:ahLst/>
            <a:cxnLst/>
            <a:rect l="l" t="t" r="r" b="b"/>
            <a:pathLst>
              <a:path w="5680045" h="3905031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607955" y="6381969"/>
            <a:ext cx="5680045" cy="3905031"/>
          </a:xfrm>
          <a:custGeom>
            <a:avLst/>
            <a:gdLst/>
            <a:ahLst/>
            <a:cxnLst/>
            <a:rect l="l" t="t" r="r" b="b"/>
            <a:pathLst>
              <a:path w="5680045" h="3905031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50721" y="4402025"/>
            <a:ext cx="8576157" cy="154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50"/>
              </a:lnSpc>
            </a:pPr>
            <a:r>
              <a:rPr lang="en-US" sz="10299" b="1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-1948541" y="0"/>
            <a:ext cx="20404005" cy="816160"/>
          </a:xfrm>
          <a:custGeom>
            <a:avLst/>
            <a:gdLst/>
            <a:ahLst/>
            <a:cxnLst/>
            <a:rect l="l" t="t" r="r" b="b"/>
            <a:pathLst>
              <a:path w="20404005" h="816160">
                <a:moveTo>
                  <a:pt x="0" y="0"/>
                </a:moveTo>
                <a:lnTo>
                  <a:pt x="20404005" y="0"/>
                </a:lnTo>
                <a:lnTo>
                  <a:pt x="20404005" y="816160"/>
                </a:lnTo>
                <a:lnTo>
                  <a:pt x="0" y="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298</Words>
  <Application>Microsoft Office PowerPoint</Application>
  <PresentationFormat>Custom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Roboto Condensed Bold</vt:lpstr>
      <vt:lpstr>Poppins</vt:lpstr>
      <vt:lpstr>Poppins Bold</vt:lpstr>
      <vt:lpstr>Roboto Condensed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</dc:title>
  <cp:lastModifiedBy>shady shaaban</cp:lastModifiedBy>
  <cp:revision>2</cp:revision>
  <dcterms:created xsi:type="dcterms:W3CDTF">2006-08-16T00:00:00Z</dcterms:created>
  <dcterms:modified xsi:type="dcterms:W3CDTF">2025-11-30T19:32:38Z</dcterms:modified>
  <dc:identifier>DAG6LoOe07Q</dc:identifier>
</cp:coreProperties>
</file>