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Montserrat" panose="00000500000000000000" pitchFamily="2" charset="0"/>
      <p:regular r:id="rId21"/>
      <p:bold r:id="rId22"/>
      <p:italic r:id="rId23"/>
      <p:boldItalic r:id="rId24"/>
    </p:embeddedFont>
    <p:embeddedFont>
      <p:font typeface="Open Sans" panose="020B0606030504020204" pitchFamily="3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86AE10B-9BF2-448C-8880-A082FBF9B68C}">
  <a:tblStyle styleId="{586AE10B-9BF2-448C-8880-A082FBF9B68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2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8167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89310" y="6161680"/>
            <a:ext cx="854620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60A5FA"/>
                </a:solidFill>
                <a:latin typeface="Open Sans"/>
                <a:ea typeface="Open Sans"/>
                <a:cs typeface="Open Sans"/>
                <a:sym typeface="Open Sans"/>
              </a:rPr>
              <a:t>DIGITAL EGYPT PIONEERS INITIATIVE (DEPI)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751353" y="74862"/>
            <a:ext cx="8973513" cy="941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1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Churn Analysis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366573" y="940087"/>
            <a:ext cx="8546203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A Data-Driven Strategy to Retain Customers &amp; Optimize Revenue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4448580" y="4098353"/>
            <a:ext cx="272184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2000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Team Data Pioneers</a:t>
            </a:r>
            <a:endParaRPr sz="2000"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29431" y="4613888"/>
            <a:ext cx="674285" cy="59815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DF0C325-DA38-D90E-3E5A-F4C71D240F9F}"/>
              </a:ext>
            </a:extLst>
          </p:cNvPr>
          <p:cNvSpPr txBox="1"/>
          <p:nvPr/>
        </p:nvSpPr>
        <p:spPr>
          <a:xfrm>
            <a:off x="3817276" y="4406130"/>
            <a:ext cx="4284792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Shady Shaaban Abdelfattah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Yasmine Mohsen Youssef Ahmed</a:t>
            </a:r>
            <a:br>
              <a:rPr lang="en-US" sz="2000" b="1" dirty="0">
                <a:solidFill>
                  <a:schemeClr val="bg1"/>
                </a:solidFill>
              </a:rPr>
            </a:br>
            <a:r>
              <a:rPr lang="en-US" sz="2000" b="1" dirty="0">
                <a:solidFill>
                  <a:schemeClr val="bg1"/>
                </a:solidFill>
              </a:rPr>
              <a:t>Samar Mostafa Mohamed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</a:rPr>
              <a:t>Christina Malak Saad Fayek</a:t>
            </a:r>
            <a:endParaRPr lang="ar-EG" sz="20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0EB4D9-BAE6-6243-909C-891D030A16D6}"/>
              </a:ext>
            </a:extLst>
          </p:cNvPr>
          <p:cNvSpPr txBox="1"/>
          <p:nvPr/>
        </p:nvSpPr>
        <p:spPr>
          <a:xfrm>
            <a:off x="3767339" y="2251454"/>
            <a:ext cx="4084321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Final Project</a:t>
            </a:r>
            <a:endParaRPr lang="ar-EG" sz="4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6012"/>
            <a:ext cx="11049000" cy="327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386012"/>
            <a:ext cx="5238750" cy="23964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1750" y="2386012"/>
            <a:ext cx="5238750" cy="239643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571500" y="1199257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Executive Summary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189071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62025" y="277653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The Problem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962025" y="328701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The telecom provider is facing a critical retention crisis with a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27% Churn Rate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. This attrition has resulted in a loss of 1,732 customers.</a:t>
            </a:r>
            <a:endParaRPr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772275" y="2776537"/>
            <a:ext cx="4680585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Business Impact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328701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This churn translates to a significant financial hit. The company is losing approximately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$19.47 Million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in annual revenue potential.</a:t>
            </a:r>
            <a:endParaRPr dirty="0"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2025" y="2795587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772275" y="279558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7700" y="2345084"/>
            <a:ext cx="2509837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43287" y="2345084"/>
            <a:ext cx="2509837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38875" y="2345084"/>
            <a:ext cx="2509837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34463" y="2345083"/>
            <a:ext cx="2509837" cy="3354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320212" y="2668934"/>
            <a:ext cx="1938337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571500" y="1158329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Comprehensive Data Pipeline</a:t>
            </a:r>
            <a:endParaRPr dirty="0"/>
          </a:p>
        </p:txBody>
      </p:sp>
      <p:sp>
        <p:nvSpPr>
          <p:cNvPr id="118" name="Google Shape;118;p15"/>
          <p:cNvSpPr/>
          <p:nvPr/>
        </p:nvSpPr>
        <p:spPr>
          <a:xfrm>
            <a:off x="571500" y="1849784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884991" y="3478559"/>
            <a:ext cx="2035254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1. Ingestion</a:t>
            </a:r>
            <a:endParaRPr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883720" y="4328188"/>
            <a:ext cx="1938337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3333"/>
              </a:lnSpc>
            </a:pP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Raw Data Source</a:t>
            </a:r>
            <a:b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Calibri"/>
              </a:rPr>
            </a:b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(7,043 Records)</a:t>
            </a:r>
            <a:b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Calibri"/>
              </a:rPr>
            </a:b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SQL Server Import</a:t>
            </a:r>
            <a:endParaRPr sz="1500" b="1" dirty="0">
              <a:solidFill>
                <a:srgbClr val="CBD5E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3680579" y="3478559"/>
            <a:ext cx="2035254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2. Processing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3680579" y="4321174"/>
            <a:ext cx="2152014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3333"/>
              </a:lnSpc>
            </a:pP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SQL Cleaning Scripts</a:t>
            </a:r>
            <a:b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Calibri"/>
              </a:rPr>
            </a:b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Null Handling</a:t>
            </a:r>
            <a:b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Calibri"/>
              </a:rPr>
            </a:b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Data Transformation</a:t>
            </a:r>
            <a:endParaRPr sz="1500" b="1" dirty="0">
              <a:solidFill>
                <a:srgbClr val="CBD5E1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476166" y="3478559"/>
            <a:ext cx="2035254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3. Modeling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238873" y="4385280"/>
            <a:ext cx="2509837" cy="921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Star Schema Design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Fact &amp; Dimension Tables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Relationship Mapping</a:t>
            </a:r>
            <a:endParaRPr b="1" dirty="0"/>
          </a:p>
        </p:txBody>
      </p:sp>
      <p:sp>
        <p:nvSpPr>
          <p:cNvPr id="125" name="Google Shape;125;p15"/>
          <p:cNvSpPr txBox="1"/>
          <p:nvPr/>
        </p:nvSpPr>
        <p:spPr>
          <a:xfrm>
            <a:off x="9257765" y="3497893"/>
            <a:ext cx="203525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4. Visualization</a:t>
            </a:r>
            <a:endParaRPr sz="1200" dirty="0"/>
          </a:p>
        </p:txBody>
      </p:sp>
      <p:sp>
        <p:nvSpPr>
          <p:cNvPr id="126" name="Google Shape;126;p15"/>
          <p:cNvSpPr txBox="1"/>
          <p:nvPr/>
        </p:nvSpPr>
        <p:spPr>
          <a:xfrm>
            <a:off x="9323704" y="4422205"/>
            <a:ext cx="193833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Power BI Dashboard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DAX Measures</a:t>
            </a:r>
            <a:br>
              <a:rPr lang="en-US" sz="18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Interactive Reports</a:t>
            </a:r>
            <a:endParaRPr b="1" dirty="0"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702593" y="2754659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41031" y="275465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6618" y="2754659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F0CB70C-04B5-2710-F64C-72B725B7F2E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1369" y="2754659"/>
            <a:ext cx="996021" cy="7216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72225" y="2249090"/>
            <a:ext cx="5238750" cy="2508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249090"/>
            <a:ext cx="5238750" cy="2508141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1062335"/>
            <a:ext cx="11601450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SQL Phase 1</a:t>
            </a:r>
            <a:r>
              <a:rPr lang="en-US" sz="3600" b="1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lang="en-US" sz="36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Ingestion &amp; Exploration</a:t>
            </a:r>
            <a:endParaRPr dirty="0"/>
          </a:p>
        </p:txBody>
      </p:sp>
      <p:sp>
        <p:nvSpPr>
          <p:cNvPr id="138" name="Google Shape;138;p16"/>
          <p:cNvSpPr/>
          <p:nvPr/>
        </p:nvSpPr>
        <p:spPr>
          <a:xfrm>
            <a:off x="571500" y="17537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 txBox="1"/>
          <p:nvPr/>
        </p:nvSpPr>
        <p:spPr>
          <a:xfrm>
            <a:off x="571500" y="2443013"/>
            <a:ext cx="5500687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100" b="1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2100" b="1" i="0" u="none" strike="noStrike" cap="none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ll </a:t>
            </a:r>
            <a:r>
              <a:rPr lang="en-US" sz="2100" b="1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2100" b="1" i="0" u="none" strike="noStrike" cap="none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ata 1. </a:t>
            </a:r>
            <a:r>
              <a:rPr lang="en-US" sz="2100" b="1" dirty="0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SQL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571500" y="2953494"/>
            <a:ext cx="52387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This step involved creating the database and importing the raw dataset.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The primary goal was to explore the general structure</a:t>
            </a: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rows</a:t>
            </a:r>
            <a:r>
              <a:rPr lang="en-US" sz="1500" b="1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and columns (31 variables) to identify cleaning requirements.</a:t>
            </a:r>
            <a:endParaRPr b="1" dirty="0"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462063"/>
            <a:ext cx="3048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0380" y="2855760"/>
            <a:ext cx="5238750" cy="16419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0380" y="2867769"/>
            <a:ext cx="5238750" cy="164197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571500" y="1062335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SQL Phase 2: Exploratory Data Analysis (EDA)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571500" y="17537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6381750" y="2357288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EDA 2.sql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6381750" y="2867769"/>
            <a:ext cx="5238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This phase aimed to calculate percentages, customer distribution, and key metrics before cleaning.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Vital information about gender ratios contract types and revenue distribution by customer status was extracted.</a:t>
            </a:r>
            <a:endParaRPr dirty="0"/>
          </a:p>
        </p:txBody>
      </p:sp>
      <p:pic>
        <p:nvPicPr>
          <p:cNvPr id="155" name="Google Shape;155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96000" y="1829990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633067"/>
            <a:ext cx="5238750" cy="27784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467225"/>
            <a:ext cx="52387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999232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SQL Phase 3: Null Value Assessment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571500" y="169068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571500" y="2185987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detect nulls3.sql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571500" y="2696467"/>
            <a:ext cx="523875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Precise identification of the location and count of missing values (Nulls) in each column. 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This code helped uncover 1,390 missing values in service columns that needed to be addressed before modeling.</a:t>
            </a:r>
            <a:endParaRPr dirty="0"/>
          </a:p>
        </p:txBody>
      </p:sp>
      <p:pic>
        <p:nvPicPr>
          <p:cNvPr id="167" name="Google Shape;16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91275" y="2185987"/>
            <a:ext cx="5219700" cy="3889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20503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3466"/>
            <a:ext cx="5238750" cy="3057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72225" y="4684017"/>
            <a:ext cx="5238750" cy="140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571500" y="1018282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SQL Phase 4: Data Cleaning &amp; Replacement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170973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2502991"/>
            <a:ext cx="5219700" cy="299114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6381750" y="2205037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replace nulls4.sql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381750" y="271551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The `ISNULL` function was used to replace all missing values with appropriate logical or categorical values ('None' or 'No'). Crucially, the final result was saved into a new clean table called `product_churn`, which serves as the new data source for the model.</a:t>
            </a:r>
            <a:endParaRPr/>
          </a:p>
        </p:txBody>
      </p:sp>
      <p:pic>
        <p:nvPicPr>
          <p:cNvPr id="181" name="Google Shape;18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81750" y="2224087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241327"/>
            <a:ext cx="5238750" cy="1752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571500" y="1494532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SQL Phase 5: View Creation</a:t>
            </a:r>
            <a:endParaRPr/>
          </a:p>
        </p:txBody>
      </p:sp>
      <p:sp>
        <p:nvSpPr>
          <p:cNvPr id="189" name="Google Shape;189;p20"/>
          <p:cNvSpPr/>
          <p:nvPr/>
        </p:nvSpPr>
        <p:spPr>
          <a:xfrm>
            <a:off x="571500" y="218598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571500" y="2681287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create_view 5.sql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571500" y="319176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To facilitate data modeling and analysis in Power BI, logical views were created based on customer status from the clean `product_churn` table:</a:t>
            </a:r>
            <a:endParaRPr/>
          </a:p>
        </p:txBody>
      </p:sp>
      <p:pic>
        <p:nvPicPr>
          <p:cNvPr id="192" name="Google Shape;192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700337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685800" y="429666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4296667"/>
            <a:ext cx="50482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vw_churned: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Includes customers who have Churned or Stayed.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85800" y="4906267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762000" y="4906267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vw_Joined: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Includes new customers who recently Joined.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79860"/>
            <a:ext cx="5238750" cy="408503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 txBox="1"/>
          <p:nvPr/>
        </p:nvSpPr>
        <p:spPr>
          <a:xfrm>
            <a:off x="571500" y="793105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Modeling: Star Schema</a:t>
            </a:r>
            <a:endParaRPr/>
          </a:p>
        </p:txBody>
      </p:sp>
      <p:sp>
        <p:nvSpPr>
          <p:cNvPr id="204" name="Google Shape;204;p21"/>
          <p:cNvSpPr/>
          <p:nvPr/>
        </p:nvSpPr>
        <p:spPr>
          <a:xfrm>
            <a:off x="571500" y="148456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6381750" y="2152650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48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Star Schema Design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81750" y="266313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 **Star Schema** model was chosen to simplify the Data Model, facilitating DAX queries in Power BI and improving report performance. The model is based on:</a:t>
            </a:r>
            <a:endParaRPr/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17170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6762750" y="3768030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Fact Table: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Contains measurable metrics (Total Revenue, Monthly Charge, Total Charges) and is the center of the star.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762750" y="4825305"/>
            <a:ext cx="4857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Dimension Tables: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Describe characteristics and details (Customer, Service, Contract, Date) and connect to the Fact table via PK/FK relationships.</a:t>
            </a:r>
            <a:endParaRPr/>
          </a:p>
        </p:txBody>
      </p:sp>
      <p:pic>
        <p:nvPicPr>
          <p:cNvPr id="211" name="Google Shape;211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2750" y="382518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2750" y="4882455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86FBEB-D648-344D-E8A1-E281AE978A2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1998910"/>
            <a:ext cx="5238750" cy="40659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9090"/>
            <a:ext cx="5238750" cy="35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1062335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Demographic Churn Analysis</a:t>
            </a:r>
            <a:endParaRPr/>
          </a:p>
        </p:txBody>
      </p:sp>
      <p:sp>
        <p:nvSpPr>
          <p:cNvPr id="220" name="Google Shape;220;p22"/>
          <p:cNvSpPr/>
          <p:nvPr/>
        </p:nvSpPr>
        <p:spPr>
          <a:xfrm>
            <a:off x="571500" y="17537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2566838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Gender Disparity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307731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Data analysis revealed that female customers are churning at a significantly higher rate than male customers: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467751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Open Sans"/>
                <a:ea typeface="Open Sans"/>
                <a:cs typeface="Open Sans"/>
                <a:sym typeface="Open Sans"/>
              </a:rPr>
              <a:t>Recommendation: Launch targeted retention campaigns specifically for the female demographic segment.</a:t>
            </a:r>
            <a:endParaRPr/>
          </a:p>
        </p:txBody>
      </p:sp>
      <p:pic>
        <p:nvPicPr>
          <p:cNvPr id="225" name="Google Shape;22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85888"/>
            <a:ext cx="333375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685800" y="3877419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387741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Female Churn: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64% of total churn.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85800" y="4182219"/>
            <a:ext cx="762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4182219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Male Churn: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36% of total churn.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812A00-A48E-CB35-A6C6-8A74BCE93A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1" y="2268140"/>
            <a:ext cx="5238750" cy="35273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84077"/>
            <a:ext cx="11049000" cy="327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289077"/>
            <a:ext cx="110490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571500" y="1197322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Primary Driver: Contract Type</a:t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571500" y="188877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3"/>
          <p:cNvSpPr txBox="1"/>
          <p:nvPr/>
        </p:nvSpPr>
        <p:spPr>
          <a:xfrm>
            <a:off x="800100" y="4670077"/>
            <a:ext cx="10629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Critical Finding: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Customers on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Month-to-Month contracts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 are the most volatile segment, while long-term contracts (2 years) show exceptional stability.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00175" y="2212627"/>
            <a:ext cx="939165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4"/>
          <p:cNvSpPr txBox="1"/>
          <p:nvPr/>
        </p:nvSpPr>
        <p:spPr>
          <a:xfrm>
            <a:off x="571500" y="1025872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Analysis of Churn Reasons</a:t>
            </a:r>
            <a:endParaRPr/>
          </a:p>
        </p:txBody>
      </p:sp>
      <p:sp>
        <p:nvSpPr>
          <p:cNvPr id="247" name="Google Shape;247;p24"/>
          <p:cNvSpPr/>
          <p:nvPr/>
        </p:nvSpPr>
        <p:spPr>
          <a:xfrm>
            <a:off x="571500" y="171732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519362"/>
            <a:ext cx="11049000" cy="300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2519362"/>
            <a:ext cx="3492549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2519362"/>
            <a:ext cx="3492549" cy="2224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2519362"/>
            <a:ext cx="3492549" cy="22249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571500" y="1332607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Geographic Hotspots Analysis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571500" y="202406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784223" y="2843212"/>
            <a:ext cx="30671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7171"/>
                </a:solidFill>
                <a:latin typeface="Montserrat"/>
                <a:ea typeface="Montserrat"/>
                <a:cs typeface="Montserrat"/>
                <a:sym typeface="Montserrat"/>
              </a:rPr>
              <a:t>Uttar Pradesh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57250" y="335369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Highest churn volume observed. Requires immediate infrastructure review.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4562523" y="2843212"/>
            <a:ext cx="30671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BBF24"/>
                </a:solidFill>
                <a:latin typeface="Montserrat"/>
                <a:ea typeface="Montserrat"/>
                <a:cs typeface="Montserrat"/>
                <a:sym typeface="Montserrat"/>
              </a:rPr>
              <a:t>Tamil Nadu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4635549" y="3353692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High competitor activity detected affecting retention.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8340822" y="2843212"/>
            <a:ext cx="306710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Maharashtra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8413849" y="3353692"/>
            <a:ext cx="2921049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Significant churn related to "Network Issues" and support quality.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6"/>
          <p:cNvSpPr txBox="1"/>
          <p:nvPr/>
        </p:nvSpPr>
        <p:spPr>
          <a:xfrm>
            <a:off x="571500" y="1635472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Strategic Roadmap</a:t>
            </a:r>
            <a:endParaRPr/>
          </a:p>
        </p:txBody>
      </p:sp>
      <p:sp>
        <p:nvSpPr>
          <p:cNvPr id="271" name="Google Shape;271;p26"/>
          <p:cNvSpPr/>
          <p:nvPr/>
        </p:nvSpPr>
        <p:spPr>
          <a:xfrm>
            <a:off x="571500" y="2326927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2" name="Google Shape;272;p26"/>
          <p:cNvGraphicFramePr/>
          <p:nvPr>
            <p:extLst>
              <p:ext uri="{D42A27DB-BD31-4B8C-83A1-F6EECF244321}">
                <p14:modId xmlns:p14="http://schemas.microsoft.com/office/powerpoint/2010/main" val="2889436175"/>
              </p:ext>
            </p:extLst>
          </p:nvPr>
        </p:nvGraphicFramePr>
        <p:xfrm>
          <a:off x="838200" y="2822227"/>
          <a:ext cx="10515600" cy="2400300"/>
        </p:xfrm>
        <a:graphic>
          <a:graphicData uri="http://schemas.openxmlformats.org/drawingml/2006/table">
            <a:tbl>
              <a:tblPr firstRow="1" bandRow="1">
                <a:noFill/>
                <a:tableStyleId>{586AE10B-9BF2-448C-8880-A082FBF9B68C}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05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0A5F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Strategy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rgbClr val="60A5F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Action Plan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60A5F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Expected Impact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 dirty="0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Contract Migration</a:t>
                      </a:r>
                      <a:endParaRPr dirty="0"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Offer incentives (free streaming, 5% discount) to move Monthly users to 1-Year plans.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Reduce churn by ~10%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Competitive Response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Launch "Data Boost" packages in Tamil Nadu to match competitor speeds.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Retain ~5% of risk pool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Service Recovery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Enhance technical support training and Fiber Optic rollout in Maharashtra.</a:t>
                      </a:r>
                      <a:endParaRPr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 dirty="0">
                          <a:solidFill>
                            <a:schemeClr val="accent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 SAT by 20%</a:t>
                      </a:r>
                      <a:endParaRPr dirty="0">
                        <a:solidFill>
                          <a:schemeClr val="accent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73" name="Google Shape;273;p26"/>
          <p:cNvSpPr/>
          <p:nvPr/>
        </p:nvSpPr>
        <p:spPr>
          <a:xfrm>
            <a:off x="838200" y="3408015"/>
            <a:ext cx="2000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6"/>
          <p:cNvSpPr/>
          <p:nvPr/>
        </p:nvSpPr>
        <p:spPr>
          <a:xfrm>
            <a:off x="2838450" y="3408015"/>
            <a:ext cx="65055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6"/>
          <p:cNvSpPr/>
          <p:nvPr/>
        </p:nvSpPr>
        <p:spPr>
          <a:xfrm>
            <a:off x="9344025" y="3408015"/>
            <a:ext cx="20097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6"/>
          <p:cNvSpPr/>
          <p:nvPr/>
        </p:nvSpPr>
        <p:spPr>
          <a:xfrm>
            <a:off x="838200" y="4008090"/>
            <a:ext cx="2000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6"/>
          <p:cNvSpPr/>
          <p:nvPr/>
        </p:nvSpPr>
        <p:spPr>
          <a:xfrm>
            <a:off x="2838450" y="4008090"/>
            <a:ext cx="65055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6"/>
          <p:cNvSpPr/>
          <p:nvPr/>
        </p:nvSpPr>
        <p:spPr>
          <a:xfrm>
            <a:off x="9344025" y="4008090"/>
            <a:ext cx="20097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6"/>
          <p:cNvSpPr/>
          <p:nvPr/>
        </p:nvSpPr>
        <p:spPr>
          <a:xfrm>
            <a:off x="838200" y="4608165"/>
            <a:ext cx="2000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2838450" y="4608165"/>
            <a:ext cx="65055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6"/>
          <p:cNvSpPr/>
          <p:nvPr/>
        </p:nvSpPr>
        <p:spPr>
          <a:xfrm>
            <a:off x="9344025" y="4608165"/>
            <a:ext cx="20097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6"/>
          <p:cNvSpPr/>
          <p:nvPr/>
        </p:nvSpPr>
        <p:spPr>
          <a:xfrm>
            <a:off x="838200" y="5208240"/>
            <a:ext cx="2000250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6"/>
          <p:cNvSpPr/>
          <p:nvPr/>
        </p:nvSpPr>
        <p:spPr>
          <a:xfrm>
            <a:off x="2838450" y="5208240"/>
            <a:ext cx="65055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/>
          <p:nvPr/>
        </p:nvSpPr>
        <p:spPr>
          <a:xfrm>
            <a:off x="9344025" y="5208240"/>
            <a:ext cx="2009775" cy="9525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7C572-29D3-ED3C-38D9-A1DB48250F2B}"/>
              </a:ext>
            </a:extLst>
          </p:cNvPr>
          <p:cNvSpPr txBox="1"/>
          <p:nvPr/>
        </p:nvSpPr>
        <p:spPr>
          <a:xfrm>
            <a:off x="838200" y="2389482"/>
            <a:ext cx="10657462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bg1"/>
                </a:solidFill>
              </a:rPr>
              <a:t>We designed a 3-part strategy to reduce churn, respond to competitors, and improve service quality.</a:t>
            </a:r>
            <a:endParaRPr lang="ar-EG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6350" y="2767012"/>
            <a:ext cx="4533900" cy="2510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767012"/>
            <a:ext cx="4533900" cy="251073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7"/>
          <p:cNvSpPr txBox="1"/>
          <p:nvPr/>
        </p:nvSpPr>
        <p:spPr>
          <a:xfrm>
            <a:off x="571500" y="1580257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 Performance Indicators (KPIs)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571500" y="227171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 txBox="1"/>
          <p:nvPr/>
        </p:nvSpPr>
        <p:spPr>
          <a:xfrm>
            <a:off x="1666875" y="3157537"/>
            <a:ext cx="394049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Key Metrics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6772275" y="3157537"/>
            <a:ext cx="3940492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670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Improvement Targets</a:t>
            </a:r>
            <a:endParaRPr/>
          </a:p>
        </p:txBody>
      </p:sp>
      <p:pic>
        <p:nvPicPr>
          <p:cNvPr id="296" name="Google Shape;296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0675" y="3228083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7"/>
          <p:cNvSpPr txBox="1"/>
          <p:nvPr/>
        </p:nvSpPr>
        <p:spPr>
          <a:xfrm>
            <a:off x="1666875" y="3629917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Monthly Churn Rate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1666875" y="4029967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432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Average Revenue Per User (ARPU)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1666875" y="4430017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Average Customer Tenure</a:t>
            </a:r>
            <a:endParaRPr/>
          </a:p>
        </p:txBody>
      </p:sp>
      <p:pic>
        <p:nvPicPr>
          <p:cNvPr id="300" name="Google Shape;300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96075" y="3225935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7"/>
          <p:cNvSpPr txBox="1"/>
          <p:nvPr/>
        </p:nvSpPr>
        <p:spPr>
          <a:xfrm>
            <a:off x="6772275" y="3629917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Reduce Churn Rate by 15%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6772275" y="4029967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Increase Average Tenure by 6 Months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6772275" y="4430017"/>
            <a:ext cx="37528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8575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Improve Customer Satisfaction by 20%</a:t>
            </a:r>
            <a:endParaRPr/>
          </a:p>
        </p:txBody>
      </p:sp>
      <p:pic>
        <p:nvPicPr>
          <p:cNvPr id="304" name="Google Shape;304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666875" y="36870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666875" y="4087117"/>
            <a:ext cx="2190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666875" y="44871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72275" y="368706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72275" y="4087117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772275" y="4487167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5EAAD05-6967-A568-B9A4-ADF3FED2EA6A}"/>
              </a:ext>
            </a:extLst>
          </p:cNvPr>
          <p:cNvSpPr txBox="1"/>
          <p:nvPr/>
        </p:nvSpPr>
        <p:spPr>
          <a:xfrm>
            <a:off x="1031132" y="2336301"/>
            <a:ext cx="10379413" cy="33855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Here’s a quick overview of our current performance and the targets we aim to achieve.</a:t>
            </a:r>
            <a:endParaRPr lang="ar-EG" sz="16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249090"/>
            <a:ext cx="5238750" cy="354642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8"/>
          <p:cNvSpPr txBox="1"/>
          <p:nvPr/>
        </p:nvSpPr>
        <p:spPr>
          <a:xfrm>
            <a:off x="571500" y="1062335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Future Scope &amp; Innovation</a:t>
            </a:r>
            <a:endParaRPr/>
          </a:p>
        </p:txBody>
      </p:sp>
      <p:sp>
        <p:nvSpPr>
          <p:cNvPr id="317" name="Google Shape;317;p28"/>
          <p:cNvSpPr/>
          <p:nvPr/>
        </p:nvSpPr>
        <p:spPr>
          <a:xfrm>
            <a:off x="571500" y="1753790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8"/>
          <p:cNvSpPr txBox="1"/>
          <p:nvPr/>
        </p:nvSpPr>
        <p:spPr>
          <a:xfrm>
            <a:off x="571500" y="2359223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1. Predictive ML Modeling</a:t>
            </a:r>
            <a:endParaRPr/>
          </a:p>
        </p:txBody>
      </p:sp>
      <p:sp>
        <p:nvSpPr>
          <p:cNvPr id="319" name="Google Shape;319;p28"/>
          <p:cNvSpPr txBox="1"/>
          <p:nvPr/>
        </p:nvSpPr>
        <p:spPr>
          <a:xfrm>
            <a:off x="571500" y="2869703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Transitioning from descriptive to predictive analysis. Building a Random Forest model to predict customer churn probability 3 months in advance.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571500" y="4069853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93C5FD"/>
                </a:solidFill>
                <a:latin typeface="Montserrat"/>
                <a:ea typeface="Montserrat"/>
                <a:cs typeface="Montserrat"/>
                <a:sym typeface="Montserrat"/>
              </a:rPr>
              <a:t>2. Real-Time Monitoring</a:t>
            </a:r>
            <a:endParaRPr/>
          </a:p>
        </p:txBody>
      </p:sp>
      <p:sp>
        <p:nvSpPr>
          <p:cNvPr id="321" name="Google Shape;321;p28"/>
          <p:cNvSpPr txBox="1"/>
          <p:nvPr/>
        </p:nvSpPr>
        <p:spPr>
          <a:xfrm>
            <a:off x="571500" y="4580334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Connecting the Power BI dashboard to live data streams (Real-Time) to generate instant alerts when churn indicators spike.</a:t>
            </a: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839306-959D-1E5F-DDB8-9C65BEA0AB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3251" y="2268139"/>
            <a:ext cx="5307249" cy="352737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10000" y="4110037"/>
            <a:ext cx="4572000" cy="64576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3695700" y="1930747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60A5FA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/>
          </a:p>
        </p:txBody>
      </p:sp>
      <p:sp>
        <p:nvSpPr>
          <p:cNvPr id="330" name="Google Shape;330;p29"/>
          <p:cNvSpPr txBox="1"/>
          <p:nvPr/>
        </p:nvSpPr>
        <p:spPr>
          <a:xfrm>
            <a:off x="3682730" y="3379180"/>
            <a:ext cx="516863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We are now open for your questions.</a:t>
            </a:r>
            <a:endParaRPr b="1" dirty="0"/>
          </a:p>
        </p:txBody>
      </p:sp>
      <p:sp>
        <p:nvSpPr>
          <p:cNvPr id="331" name="Google Shape;331;p29"/>
          <p:cNvSpPr txBox="1"/>
          <p:nvPr/>
        </p:nvSpPr>
        <p:spPr>
          <a:xfrm>
            <a:off x="3810000" y="4481512"/>
            <a:ext cx="457200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Open Sans"/>
                <a:ea typeface="Open Sans"/>
                <a:cs typeface="Open Sans"/>
                <a:sym typeface="Open Sans"/>
              </a:rPr>
              <a:t>DEPI - Data Analysis Track | Final Project Discussion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0"/>
          <p:cNvSpPr txBox="1"/>
          <p:nvPr/>
        </p:nvSpPr>
        <p:spPr>
          <a:xfrm>
            <a:off x="571500" y="1663154"/>
            <a:ext cx="11601450" cy="567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/>
          </a:p>
        </p:txBody>
      </p:sp>
      <p:sp>
        <p:nvSpPr>
          <p:cNvPr id="338" name="Google Shape;338;p30"/>
          <p:cNvSpPr/>
          <p:nvPr/>
        </p:nvSpPr>
        <p:spPr>
          <a:xfrm>
            <a:off x="571500" y="2354609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0"/>
          <p:cNvSpPr/>
          <p:nvPr/>
        </p:nvSpPr>
        <p:spPr>
          <a:xfrm>
            <a:off x="3067050" y="3625155"/>
            <a:ext cx="6057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0"/>
          <p:cNvSpPr/>
          <p:nvPr/>
        </p:nvSpPr>
        <p:spPr>
          <a:xfrm>
            <a:off x="3067050" y="4409926"/>
            <a:ext cx="60579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1" name="Google Shape;341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67050" y="299933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0"/>
          <p:cNvSpPr txBox="1"/>
          <p:nvPr/>
        </p:nvSpPr>
        <p:spPr>
          <a:xfrm>
            <a:off x="4162425" y="2992784"/>
            <a:ext cx="49625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https://montecarlodata.com/wp-content/uploads/2024/09/data-quality-dashboard.png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4162425" y="3238500"/>
            <a:ext cx="4962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www.montecarlodata.com</a:t>
            </a:r>
            <a:endParaRPr/>
          </a:p>
        </p:txBody>
      </p:sp>
      <p:pic>
        <p:nvPicPr>
          <p:cNvPr id="344" name="Google Shape;344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67050" y="378410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0"/>
          <p:cNvSpPr txBox="1"/>
          <p:nvPr/>
        </p:nvSpPr>
        <p:spPr>
          <a:xfrm>
            <a:off x="4162425" y="3777555"/>
            <a:ext cx="49625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https://chartexpo.com/blog/wp-content/uploads/2024/01/what-is-etl-main.jpg</a:t>
            </a:r>
            <a:endParaRPr/>
          </a:p>
        </p:txBody>
      </p:sp>
      <p:sp>
        <p:nvSpPr>
          <p:cNvPr id="346" name="Google Shape;346;p30"/>
          <p:cNvSpPr txBox="1"/>
          <p:nvPr/>
        </p:nvSpPr>
        <p:spPr>
          <a:xfrm>
            <a:off x="4162425" y="4023270"/>
            <a:ext cx="4962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chartexpo.com</a:t>
            </a:r>
            <a:endParaRPr/>
          </a:p>
        </p:txBody>
      </p:sp>
      <p:pic>
        <p:nvPicPr>
          <p:cNvPr id="347" name="Google Shape;347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67050" y="456887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0"/>
          <p:cNvSpPr txBox="1"/>
          <p:nvPr/>
        </p:nvSpPr>
        <p:spPr>
          <a:xfrm>
            <a:off x="4162425" y="4562326"/>
            <a:ext cx="496252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https://www.databricks.com/sites/default/files/2024-04/star-schema-2x.png</a:t>
            </a:r>
            <a:endParaRPr/>
          </a:p>
        </p:txBody>
      </p:sp>
      <p:sp>
        <p:nvSpPr>
          <p:cNvPr id="349" name="Google Shape;349;p30"/>
          <p:cNvSpPr txBox="1"/>
          <p:nvPr/>
        </p:nvSpPr>
        <p:spPr>
          <a:xfrm>
            <a:off x="4162425" y="4808041"/>
            <a:ext cx="496252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Open Sans"/>
                <a:ea typeface="Open Sans"/>
                <a:cs typeface="Open Sans"/>
                <a:sym typeface="Open Sans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Open Sans"/>
                <a:ea typeface="Open Sans"/>
                <a:cs typeface="Open Sans"/>
                <a:sym typeface="Open Sans"/>
              </a:rPr>
              <a:t>www.databricks.com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8FD20C-F871-4624-8E3D-10C07D5A59E2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939</Words>
  <Application>Microsoft Office PowerPoint</Application>
  <PresentationFormat>Widescreen</PresentationFormat>
  <Paragraphs>105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Arial</vt:lpstr>
      <vt:lpstr>Open Sans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shady shaaban</cp:lastModifiedBy>
  <cp:revision>3</cp:revision>
  <dcterms:modified xsi:type="dcterms:W3CDTF">2025-12-03T01:20:03Z</dcterms:modified>
</cp:coreProperties>
</file>